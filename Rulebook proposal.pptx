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0"/>
  </p:notesMasterIdLst>
  <p:sldIdLst>
    <p:sldId id="256" r:id="rId2"/>
    <p:sldId id="269" r:id="rId3"/>
    <p:sldId id="270" r:id="rId4"/>
    <p:sldId id="275" r:id="rId5"/>
    <p:sldId id="276" r:id="rId6"/>
    <p:sldId id="277" r:id="rId7"/>
    <p:sldId id="272" r:id="rId8"/>
    <p:sldId id="27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3F2FA85-4EC4-0E4B-9D81-09004BB75887}">
          <p14:sldIdLst>
            <p14:sldId id="256"/>
            <p14:sldId id="269"/>
            <p14:sldId id="270"/>
            <p14:sldId id="275"/>
            <p14:sldId id="276"/>
            <p14:sldId id="277"/>
            <p14:sldId id="272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56"/>
  </p:normalViewPr>
  <p:slideViewPr>
    <p:cSldViewPr snapToGrid="0">
      <p:cViewPr>
        <p:scale>
          <a:sx n="93" d="100"/>
          <a:sy n="93" d="100"/>
        </p:scale>
        <p:origin x="142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4BF66A-49C5-3B4A-A45C-538D2DA358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32645-60B0-EB4C-95C2-50D38414B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67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BD190-ED23-2448-9D2B-171E1F1C55B3}" type="datetime1">
              <a:rPr lang="en-US" smtClean="0"/>
              <a:t>11/9/25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4FA3C-49A0-5648-97B7-88B190D75052}" type="datetime1">
              <a:rPr lang="en-US" smtClean="0"/>
              <a:t>11/9/25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A12D-3E7C-E943-AF93-0F1B8DA29EBD}" type="datetime1">
              <a:rPr lang="en-US" smtClean="0"/>
              <a:t>11/9/25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E929E-DEF3-8A47-93B5-1E43AF9B0218}" type="datetime1">
              <a:rPr lang="en-US" smtClean="0"/>
              <a:t>11/9/25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4777-297A-1841-9D50-3A202114AA3A}" type="datetime1">
              <a:rPr lang="en-US" smtClean="0"/>
              <a:t>11/9/25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86856-E464-DA48-801A-3EB38828AB7D}" type="datetime1">
              <a:rPr lang="en-US" smtClean="0"/>
              <a:t>11/9/25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C5F9-61F8-2E40-861A-BE4EEFFA5138}" type="datetime1">
              <a:rPr lang="en-US" smtClean="0"/>
              <a:t>11/9/25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289A-1BF3-EC45-8A4E-3BA8D9AA446D}" type="datetime1">
              <a:rPr lang="en-US" smtClean="0"/>
              <a:t>11/9/25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1928BBF-7404-424C-886B-1D1BCBA03F0F}" type="datetime1">
              <a:rPr lang="en-US" smtClean="0"/>
              <a:t>11/9/25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4BAC3-9FE8-3E45-AFBA-3492B98B1EB8}" type="datetime1">
              <a:rPr lang="en-US" smtClean="0"/>
              <a:t>11/9/25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233F-6E06-B249-9B5A-631965C24602}" type="datetime1">
              <a:rPr lang="en-US" smtClean="0"/>
              <a:t>11/9/25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D855837-2297-D444-9884-0BBDF4E52A7E}" type="datetime1">
              <a:rPr lang="en-US" smtClean="0"/>
              <a:t>11/9/25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northwestcricket.com/wp-content/uploads/2023/04/laws-of-cricket-2017-code-3rd-edition-2022_1.pdf?utm_source=chatgpt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aggiereiter.com/blog/sports-field-rag-app/" TargetMode="External"/><Relationship Id="rId2" Type="http://schemas.openxmlformats.org/officeDocument/2006/relationships/hyperlink" Target="https://www.zenml.io/llmops-database/rag-powered-chatbot-for-sports-team-roster-managemen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005.11401?utm_source=chatgpt.com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6C28B-D49D-1789-201B-C4CADB9F9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7372" y="1603066"/>
            <a:ext cx="9897255" cy="1645920"/>
          </a:xfrm>
        </p:spPr>
        <p:txBody>
          <a:bodyPr>
            <a:normAutofit/>
          </a:bodyPr>
          <a:lstStyle/>
          <a:p>
            <a:r>
              <a:rPr lang="en-US" dirty="0" err="1"/>
              <a:t>RuleBook</a:t>
            </a:r>
            <a:r>
              <a:rPr lang="en-US" dirty="0"/>
              <a:t>: RAG-Based Q&amp;A System for Cricket’s Laws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FF3B9-D7F6-C27D-4F07-D63DC8450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7372" y="3428999"/>
            <a:ext cx="6801612" cy="2371725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Team Members</a:t>
            </a:r>
          </a:p>
          <a:p>
            <a:pPr algn="l"/>
            <a:r>
              <a:rPr lang="en-US" dirty="0"/>
              <a:t>- </a:t>
            </a:r>
            <a:r>
              <a:rPr lang="en-US" dirty="0" err="1"/>
              <a:t>Ronik</a:t>
            </a:r>
            <a:r>
              <a:rPr lang="en-US" dirty="0"/>
              <a:t> Karki</a:t>
            </a:r>
          </a:p>
          <a:p>
            <a:pPr algn="l"/>
            <a:r>
              <a:rPr lang="en-US" dirty="0"/>
              <a:t>- Kalam Uddin</a:t>
            </a:r>
          </a:p>
          <a:p>
            <a:pPr algn="l"/>
            <a:r>
              <a:rPr lang="en-US" dirty="0"/>
              <a:t>- </a:t>
            </a:r>
            <a:r>
              <a:rPr lang="en-US" dirty="0" err="1"/>
              <a:t>Nischal</a:t>
            </a:r>
            <a:r>
              <a:rPr lang="en-US" dirty="0"/>
              <a:t> Subedi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02058-92D4-9E0B-2CA9-7B3F5719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823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F9567-A37B-9227-77DE-712CC9AF0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topic and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73614-3578-552C-1EB1-493116751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5"/>
            <a:ext cx="7729728" cy="1968246"/>
          </a:xfrm>
        </p:spPr>
        <p:txBody>
          <a:bodyPr>
            <a:normAutofit/>
          </a:bodyPr>
          <a:lstStyle/>
          <a:p>
            <a:r>
              <a:rPr lang="en-US" dirty="0" err="1"/>
              <a:t>RuleBook</a:t>
            </a:r>
            <a:r>
              <a:rPr lang="en-US" dirty="0"/>
              <a:t>: RAG-Based Q&amp;A System for Cricket’s Laws</a:t>
            </a:r>
          </a:p>
          <a:p>
            <a:pPr lvl="1"/>
            <a:r>
              <a:rPr lang="en-US" dirty="0"/>
              <a:t>Enhancing Cricket Knowledge Accessibility using a Retrieval-Augmented Generation(RAG) System</a:t>
            </a:r>
          </a:p>
          <a:p>
            <a:r>
              <a:rPr lang="en-US" dirty="0"/>
              <a:t>Domain :  </a:t>
            </a:r>
            <a:r>
              <a:rPr lang="en-US" i="1" dirty="0"/>
              <a:t>Laws of Cricket: 2017 Code, 3rd Edition</a:t>
            </a:r>
            <a:r>
              <a:rPr lang="en-US" dirty="0"/>
              <a:t> (2022), </a:t>
            </a:r>
            <a:r>
              <a:rPr lang="en-US" dirty="0">
                <a:hlinkClick r:id="rId2"/>
              </a:rPr>
              <a:t>https://northwestcricket.com/wp-content/uploads/2023/04/laws-of-cricket-2017-code-3rd-edition-2022_1.pdf</a:t>
            </a: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D86DA-E8AA-8F5A-869F-7C859382B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2F740ED-8105-2BBC-ED2E-1E2C2CDA581D}"/>
              </a:ext>
            </a:extLst>
          </p:cNvPr>
          <p:cNvSpPr txBox="1">
            <a:spLocks/>
          </p:cNvSpPr>
          <p:nvPr/>
        </p:nvSpPr>
        <p:spPr>
          <a:xfrm>
            <a:off x="2231136" y="4944619"/>
            <a:ext cx="7266825" cy="11887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Motive 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Manually searching this dense document to answer specific, situational queries is time-consuming and challenging for players, coaches, and enthusiasts.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349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367E9-44A9-DA70-A08D-9A2EDA5B3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8F273-F595-FA11-B3B5-AA5D7E3B7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D69082-3E05-F0DB-9B91-E0992D9D15F6}"/>
              </a:ext>
            </a:extLst>
          </p:cNvPr>
          <p:cNvSpPr txBox="1">
            <a:spLocks/>
          </p:cNvSpPr>
          <p:nvPr/>
        </p:nvSpPr>
        <p:spPr>
          <a:xfrm>
            <a:off x="2231136" y="2425712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 RAG-powered Q&amp;A system that accurately answers questions about cricket rules</a:t>
            </a:r>
          </a:p>
          <a:p>
            <a:r>
              <a:rPr lang="en-US" dirty="0"/>
              <a:t>Ingest &amp; Process : To Successfully ingest chunks and create vector embeddings of the document</a:t>
            </a:r>
          </a:p>
          <a:p>
            <a:r>
              <a:rPr lang="en-US" dirty="0"/>
              <a:t>Accurate Retrieval : To implement retrieval mechanism that finds the most relevant text for given user question</a:t>
            </a:r>
          </a:p>
          <a:p>
            <a:r>
              <a:rPr lang="en-US" dirty="0"/>
              <a:t>Context Aware Generation : To generate precise, context-grounded answers using LLM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077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A3031-9EB1-AF55-5B44-852017990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 of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81F31-03AE-885B-9FC4-9A13B4E9C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5"/>
            <a:ext cx="7729728" cy="2654046"/>
          </a:xfrm>
        </p:spPr>
        <p:txBody>
          <a:bodyPr/>
          <a:lstStyle/>
          <a:p>
            <a:r>
              <a:rPr lang="en-US" dirty="0"/>
              <a:t>Clarifies Complex Rules of Cricket</a:t>
            </a:r>
          </a:p>
          <a:p>
            <a:r>
              <a:rPr lang="en-US" dirty="0"/>
              <a:t>Saves Time &amp; Improves Accuracy</a:t>
            </a:r>
          </a:p>
          <a:p>
            <a:r>
              <a:rPr lang="en-US" dirty="0"/>
              <a:t>Education Tool for new fans and players of Cricket</a:t>
            </a:r>
          </a:p>
          <a:p>
            <a:r>
              <a:rPr lang="en-US" dirty="0"/>
              <a:t>Demonstration of practical RAG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53836-C131-0BDC-BB59-8A6C9A1DB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870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B1817-CDDF-984D-A9E7-BD7F559DE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796A4-BBF1-8BBD-A9CA-10385089D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the art in rag &amp; relevant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2E546-D3F2-0E60-F23A-1C7BEE98D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ZenML</a:t>
            </a:r>
            <a:r>
              <a:rPr lang="en-US" dirty="0"/>
              <a:t>, </a:t>
            </a:r>
            <a:r>
              <a:rPr lang="en-US" i="1" dirty="0"/>
              <a:t>“RAG-Powered Chatbot for Sports Team Roster Management,”</a:t>
            </a:r>
            <a:r>
              <a:rPr lang="en-US" dirty="0"/>
              <a:t> 2024, </a:t>
            </a:r>
            <a:r>
              <a:rPr lang="en-US" dirty="0">
                <a:hlinkClick r:id="rId2"/>
              </a:rPr>
              <a:t>https://www.zenml.io/llmops-database/rag-powered-chatbot-for-sports-team-roster-management</a:t>
            </a:r>
            <a:endParaRPr lang="en-US" dirty="0"/>
          </a:p>
          <a:p>
            <a:r>
              <a:rPr lang="en-US" dirty="0"/>
              <a:t>Reiter, Maggie. “Building a Sports Field Management LLM Assistant.” January 29, 2025. </a:t>
            </a:r>
            <a:r>
              <a:rPr lang="en-US" dirty="0">
                <a:hlinkClick r:id="rId3"/>
              </a:rPr>
              <a:t>https://maggiereiter.com/blog/sports-field-rag-app/</a:t>
            </a:r>
            <a:endParaRPr lang="en-US" dirty="0"/>
          </a:p>
          <a:p>
            <a:r>
              <a:rPr lang="en-US" dirty="0"/>
              <a:t>Lewis, Patrick, Ethan Perez, Aleksandra </a:t>
            </a:r>
            <a:r>
              <a:rPr lang="en-US" dirty="0" err="1"/>
              <a:t>Piktus</a:t>
            </a:r>
            <a:r>
              <a:rPr lang="en-US" dirty="0"/>
              <a:t>, Fabio Petroni, Vladimir </a:t>
            </a:r>
            <a:r>
              <a:rPr lang="en-US" dirty="0" err="1"/>
              <a:t>Karpukhin</a:t>
            </a:r>
            <a:r>
              <a:rPr lang="en-US" dirty="0"/>
              <a:t>, Naman Goyal, Heinrich </a:t>
            </a:r>
            <a:r>
              <a:rPr lang="en-US" dirty="0" err="1"/>
              <a:t>Küttler</a:t>
            </a:r>
            <a:r>
              <a:rPr lang="en-US" dirty="0"/>
              <a:t>, Mike Lewis, Wen-tau Yih, Tim </a:t>
            </a:r>
            <a:r>
              <a:rPr lang="en-US" dirty="0" err="1"/>
              <a:t>Rocktäschel</a:t>
            </a:r>
            <a:r>
              <a:rPr lang="en-US" dirty="0"/>
              <a:t>, Sebastian Riedel, and </a:t>
            </a:r>
            <a:r>
              <a:rPr lang="en-US" dirty="0" err="1"/>
              <a:t>Douwe</a:t>
            </a:r>
            <a:r>
              <a:rPr lang="en-US" dirty="0"/>
              <a:t> </a:t>
            </a:r>
            <a:r>
              <a:rPr lang="en-US" dirty="0" err="1"/>
              <a:t>Kiela</a:t>
            </a:r>
            <a:r>
              <a:rPr lang="en-US" dirty="0"/>
              <a:t>. “Retrieval-Augmented Generation for Knowledge-Intensive NLP Tasks.” </a:t>
            </a:r>
            <a:r>
              <a:rPr lang="en-US" dirty="0" err="1"/>
              <a:t>arXiv</a:t>
            </a:r>
            <a:r>
              <a:rPr lang="en-US" dirty="0"/>
              <a:t>, May 22 2020. </a:t>
            </a:r>
            <a:r>
              <a:rPr lang="en-US" dirty="0">
                <a:hlinkClick r:id="rId4"/>
              </a:rPr>
              <a:t>https://arxiv.org/abs/2005.11401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i="0" dirty="0">
              <a:solidFill>
                <a:srgbClr val="111827"/>
              </a:solidFill>
              <a:effectLst/>
              <a:latin typeface="Plus Jakarta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1C94C-DAAF-AA18-F6BF-866807730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29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5DD80B-17AE-7899-A671-59EE6624E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30BC020-BDBF-49EB-9898-BAB5BF559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950C64-5D81-40F1-9601-8BA0D63BA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6CF9A4-F108-3B3E-D743-54A297290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1806" y="3584168"/>
            <a:ext cx="7729729" cy="855406"/>
          </a:xfrm>
          <a:noFill/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Our approach</a:t>
            </a:r>
          </a:p>
        </p:txBody>
      </p:sp>
      <p:pic>
        <p:nvPicPr>
          <p:cNvPr id="8" name="Picture 7" descr="A diagram of a database&#10;&#10;AI-generated content may be incorrect.">
            <a:extLst>
              <a:ext uri="{FF2B5EF4-FFF2-40B4-BE49-F238E27FC236}">
                <a16:creationId xmlns:a16="http://schemas.microsoft.com/office/drawing/2014/main" id="{081E696D-60FE-FC3C-2A24-CC3759413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541" y="582869"/>
            <a:ext cx="9430261" cy="226326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9C67D-FFBF-DF4A-6573-A7F8E12F1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8412" y="4846076"/>
            <a:ext cx="7715177" cy="192048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bg1"/>
                </a:solidFill>
              </a:rPr>
              <a:t>LLM : Llama 3.2 (Open-source, high performing models ideal for Q&amp;A)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bg1"/>
                </a:solidFill>
              </a:rPr>
              <a:t>EMBEDDING MODEL : </a:t>
            </a:r>
            <a:r>
              <a:rPr lang="en-US" sz="1400" dirty="0" err="1">
                <a:solidFill>
                  <a:schemeClr val="bg1"/>
                </a:solidFill>
              </a:rPr>
              <a:t>OllamaEmbeddings</a:t>
            </a:r>
            <a:r>
              <a:rPr lang="en-US" sz="1400" dirty="0">
                <a:solidFill>
                  <a:schemeClr val="bg1"/>
                </a:solidFill>
              </a:rPr>
              <a:t>(model = “all-</a:t>
            </a:r>
            <a:r>
              <a:rPr lang="en-US" sz="1400" dirty="0" err="1">
                <a:solidFill>
                  <a:schemeClr val="bg1"/>
                </a:solidFill>
              </a:rPr>
              <a:t>minilm</a:t>
            </a:r>
            <a:r>
              <a:rPr lang="en-US" sz="1400" dirty="0">
                <a:solidFill>
                  <a:schemeClr val="bg1"/>
                </a:solidFill>
              </a:rPr>
              <a:t>”)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bg1"/>
                </a:solidFill>
              </a:rPr>
              <a:t>VECTOR DATABASE : </a:t>
            </a:r>
            <a:r>
              <a:rPr lang="en-US" sz="1400" dirty="0" err="1">
                <a:solidFill>
                  <a:schemeClr val="bg1"/>
                </a:solidFill>
              </a:rPr>
              <a:t>ChromaDB</a:t>
            </a:r>
            <a:r>
              <a:rPr lang="en-US" sz="1400" dirty="0">
                <a:solidFill>
                  <a:schemeClr val="bg1"/>
                </a:solidFill>
              </a:rPr>
              <a:t> (open-source, easy to integrate)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bg1"/>
                </a:solidFill>
              </a:rPr>
              <a:t>FRAMEWORK : </a:t>
            </a:r>
            <a:r>
              <a:rPr lang="en-US" sz="1400" dirty="0" err="1">
                <a:solidFill>
                  <a:schemeClr val="bg1"/>
                </a:solidFill>
              </a:rPr>
              <a:t>Langchain</a:t>
            </a:r>
            <a:endParaRPr lang="en-US" sz="14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bg1"/>
                </a:solidFill>
              </a:rPr>
              <a:t>KNOWLEDGE BASE : “Laws of Cricket” pdf document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A729A-1A35-0A82-4B36-B02A0B3CD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A7A6979-0714-4377-B894-6BE4C2D6E202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4999E9-91B0-7C93-0AE1-7F12B9906E17}"/>
              </a:ext>
            </a:extLst>
          </p:cNvPr>
          <p:cNvSpPr txBox="1"/>
          <p:nvPr/>
        </p:nvSpPr>
        <p:spPr>
          <a:xfrm>
            <a:off x="4471988" y="2846130"/>
            <a:ext cx="3271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: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989125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18E97-146A-DCF6-4520-CBBA396F3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E4337-1C99-1F33-8818-4C9A32E51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 Code</a:t>
            </a:r>
          </a:p>
          <a:p>
            <a:r>
              <a:rPr lang="en-US" dirty="0"/>
              <a:t>Technical Report and Evaluation Results</a:t>
            </a:r>
          </a:p>
          <a:p>
            <a:r>
              <a:rPr lang="en-US" dirty="0"/>
              <a:t>Functional Demo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F083D-855B-1F50-184C-3B076E3B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028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2DDD8-CE1C-B068-7C87-C16F4E02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15C87-9891-5D68-72BD-2297BFB7C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C36AB-3136-D6E2-5BE4-5A79BBA35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Evaluated based on Accuracy &amp; Relevancy</a:t>
            </a:r>
          </a:p>
          <a:p>
            <a:r>
              <a:rPr lang="en-US" dirty="0"/>
              <a:t>Test Dataset : Custom question dataset of varying complexity </a:t>
            </a:r>
          </a:p>
          <a:p>
            <a:r>
              <a:rPr lang="en-US" dirty="0"/>
              <a:t>Answer Relevancy </a:t>
            </a:r>
          </a:p>
          <a:p>
            <a:r>
              <a:rPr lang="en-US" dirty="0"/>
              <a:t>Baseline Comparison – RAG system’s answers with base LLM</a:t>
            </a:r>
          </a:p>
          <a:p>
            <a:r>
              <a:rPr lang="en-US" dirty="0"/>
              <a:t>Retrieval Metric : </a:t>
            </a:r>
          </a:p>
          <a:p>
            <a:pPr lvl="1"/>
            <a:r>
              <a:rPr lang="en-US" dirty="0"/>
              <a:t>Hit rate @k - whether the correct chunk is in the top ‘k’ retrieved results</a:t>
            </a:r>
          </a:p>
          <a:p>
            <a:pPr lvl="1"/>
            <a:r>
              <a:rPr lang="en-US" dirty="0"/>
              <a:t>Average of reciprocal ranks of first correct chunk</a:t>
            </a:r>
          </a:p>
          <a:p>
            <a:pPr marL="228600" lvl="1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4B55B-2013-AB25-77F9-51D29FA0D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124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271</TotalTime>
  <Words>439</Words>
  <Application>Microsoft Macintosh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Gill Sans MT</vt:lpstr>
      <vt:lpstr>Plus Jakarta Sans</vt:lpstr>
      <vt:lpstr>Parcel</vt:lpstr>
      <vt:lpstr>RuleBook: RAG-Based Q&amp;A System for Cricket’s Laws</vt:lpstr>
      <vt:lpstr>Project topic and domain</vt:lpstr>
      <vt:lpstr>Project objective</vt:lpstr>
      <vt:lpstr>Statement of value</vt:lpstr>
      <vt:lpstr>State of the art in rag &amp; relevant works</vt:lpstr>
      <vt:lpstr>Our approach</vt:lpstr>
      <vt:lpstr>deliverables</vt:lpstr>
      <vt:lpstr>Evaluation methodology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Karki, Ronik</dc:creator>
  <cp:lastModifiedBy>Karki, Ronik</cp:lastModifiedBy>
  <cp:revision>23</cp:revision>
  <dcterms:created xsi:type="dcterms:W3CDTF">2025-04-22T18:40:36Z</dcterms:created>
  <dcterms:modified xsi:type="dcterms:W3CDTF">2025-11-10T01:48:48Z</dcterms:modified>
</cp:coreProperties>
</file>